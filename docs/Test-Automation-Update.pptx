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charts/chart1.xml" ContentType="application/vnd.openxmlformats-officedocument.drawingml.chart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Outcome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/>
          </c:spPr>
          <c:dPt>
            <c:idx val="0"/>
            <c:bubble3D val="0"/>
            <c:spPr>
              <a:solidFill>
                <a:srgbClr val="10B981"/>
              </a:solidFill>
              <a:ln w="12700" cap="flat">
                <a:solidFill>
                  <a:srgbClr val="FFFFFF"/>
                </a:solidFill>
                <a:prstDash val="solid"/>
                <a:round/>
              </a:ln>
              <a:effectLst/>
            </c:spPr>
          </c:dPt>
          <c:dPt>
            <c:idx val="1"/>
            <c:bubble3D val="0"/>
            <c:spPr>
              <a:solidFill>
                <a:srgbClr val="F59E0B"/>
              </a:solidFill>
              <a:ln w="12700" cap="flat">
                <a:solidFill>
                  <a:srgbClr val="FFFFFF"/>
                </a:solidFill>
                <a:prstDash val="solid"/>
                <a:round/>
              </a:ln>
              <a:effectLst/>
            </c:spPr>
          </c:dPt>
          <c:dLbls>
            <c:dLbl>
              <c:idx val="0"/>
              <c:numFmt formatCode="General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000000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"/>
              <c:numFmt formatCode="General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000000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0"/>
              <c:showBubbleSize val="0"/>
            </c:dLbl>
            <c:numFmt formatCode="General" sourceLinked="0"/>
            <c:txPr>
              <a:bodyPr/>
              <a:lstStyle/>
              <a:p>
                <a:pPr>
                  <a:defRPr sz="1800" b="0" i="0" u="none" strike="noStrik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1"/>
            <c:showSerName val="0"/>
            <c:showPercent val="1"/>
            <c:showBubbleSize val="0"/>
            <c:showLeaderLines val="0"/>
          </c:dLbls>
          <c:cat>
            <c:strRef>
              <c:f>Sheet1!$A$2:$A$3</c:f>
              <c:strCache>
                <c:ptCount val="2"/>
                <c:pt idx="0">
                  <c:v>Passed</c:v>
                </c:pt>
                <c:pt idx="1">
                  <c:v>Failed</c:v>
                </c:pt>
              </c:strCache>
            </c:strRef>
          </c:cat>
          <c:val>
            <c:numRef>
              <c:f>Sheet1!$B$2:$B$3</c:f>
              <c:numCache>
                <c:ptCount val="2"/>
                <c:pt idx="0">
                  <c:v>643</c:v>
                </c:pt>
                <c:pt idx="1">
                  <c:v>214</c:v>
                </c:pt>
              </c:numCache>
            </c:numRef>
          </c:val>
        </c:ser>
        <c:firstSliceAng val="0"/>
        <c:holeSize val="60"/>
      </c:doughnutChart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228600"/>
            <a:ext cx="114300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 Automation Update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365760" y="713232"/>
            <a:ext cx="11430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OBT only</a:t>
            </a:r>
            <a:endParaRPr lang="en-US" sz="1200" dirty="0"/>
          </a:p>
        </p:txBody>
      </p:sp>
      <p:sp>
        <p:nvSpPr>
          <p:cNvPr id="4" name="Shape 2"/>
          <p:cNvSpPr/>
          <p:nvPr/>
        </p:nvSpPr>
        <p:spPr>
          <a:xfrm>
            <a:off x="365760" y="1051560"/>
            <a:ext cx="11430000" cy="0"/>
          </a:xfrm>
          <a:prstGeom prst="line">
            <a:avLst/>
          </a:prstGeom>
          <a:noFill/>
          <a:ln w="12700">
            <a:solidFill>
              <a:srgbClr val="E5E7EB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365760" y="1234440"/>
            <a:ext cx="2754630" cy="1051560"/>
          </a:xfrm>
          <a:prstGeom prst="roundRect">
            <a:avLst>
              <a:gd name="adj" fmla="val 8696"/>
            </a:avLst>
          </a:prstGeom>
          <a:solidFill>
            <a:srgbClr val="D1FAE5"/>
          </a:solidFill>
          <a:ln w="12700">
            <a:solidFill>
              <a:srgbClr val="10B981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365760" y="1298448"/>
            <a:ext cx="275463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75%</a:t>
            </a:r>
            <a:endParaRPr lang="en-US" sz="3200" dirty="0"/>
          </a:p>
        </p:txBody>
      </p:sp>
      <p:sp>
        <p:nvSpPr>
          <p:cNvPr id="7" name="Text 5"/>
          <p:cNvSpPr/>
          <p:nvPr/>
        </p:nvSpPr>
        <p:spPr>
          <a:xfrm>
            <a:off x="365760" y="1856232"/>
            <a:ext cx="275463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Passing rate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3257550" y="1234440"/>
            <a:ext cx="2754630" cy="1051560"/>
          </a:xfrm>
          <a:prstGeom prst="roundRect">
            <a:avLst>
              <a:gd name="adj" fmla="val 8696"/>
            </a:avLst>
          </a:prstGeom>
          <a:solidFill>
            <a:srgbClr val="DBEAFE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3257550" y="1298448"/>
            <a:ext cx="275463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2563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857</a:t>
            </a:r>
            <a:endParaRPr lang="en-US" sz="3200" dirty="0"/>
          </a:p>
        </p:txBody>
      </p:sp>
      <p:sp>
        <p:nvSpPr>
          <p:cNvPr id="10" name="Text 8"/>
          <p:cNvSpPr/>
          <p:nvPr/>
        </p:nvSpPr>
        <p:spPr>
          <a:xfrm>
            <a:off x="3257550" y="1856232"/>
            <a:ext cx="275463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Tests running daily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6149340" y="1234440"/>
            <a:ext cx="2754630" cy="1051560"/>
          </a:xfrm>
          <a:prstGeom prst="roundRect">
            <a:avLst>
              <a:gd name="adj" fmla="val 8696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149340" y="1298448"/>
            <a:ext cx="275463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2h</a:t>
            </a:r>
            <a:endParaRPr lang="en-US" sz="3200" dirty="0"/>
          </a:p>
        </p:txBody>
      </p:sp>
      <p:sp>
        <p:nvSpPr>
          <p:cNvPr id="13" name="Text 11"/>
          <p:cNvSpPr/>
          <p:nvPr/>
        </p:nvSpPr>
        <p:spPr>
          <a:xfrm>
            <a:off x="6149340" y="1856232"/>
            <a:ext cx="275463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Avg total duration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9041130" y="1234440"/>
            <a:ext cx="2754630" cy="1051560"/>
          </a:xfrm>
          <a:prstGeom prst="roundRect">
            <a:avLst>
              <a:gd name="adj" fmla="val 8696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9041130" y="1298448"/>
            <a:ext cx="275463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69</a:t>
            </a:r>
            <a:endParaRPr lang="en-US" sz="3200" dirty="0"/>
          </a:p>
        </p:txBody>
      </p:sp>
      <p:sp>
        <p:nvSpPr>
          <p:cNvPr id="16" name="Text 14"/>
          <p:cNvSpPr/>
          <p:nvPr/>
        </p:nvSpPr>
        <p:spPr>
          <a:xfrm>
            <a:off x="9041130" y="1856232"/>
            <a:ext cx="275463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Blocked (outside the run)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365760" y="2487168"/>
            <a:ext cx="57607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563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Tests by domain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365760" y="2880360"/>
            <a:ext cx="146304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Flights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1874520" y="2926080"/>
            <a:ext cx="2926080" cy="237744"/>
          </a:xfrm>
          <a:prstGeom prst="roundRect">
            <a:avLst>
              <a:gd name="adj" fmla="val 19231"/>
            </a:avLst>
          </a:prstGeom>
          <a:solidFill>
            <a:srgbClr val="F3F4F6"/>
          </a:solidFill>
          <a:ln w="12700">
            <a:solidFill>
              <a:srgbClr val="F3F4F6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1874520" y="2926080"/>
            <a:ext cx="1201844" cy="237744"/>
          </a:xfrm>
          <a:prstGeom prst="roundRect">
            <a:avLst>
              <a:gd name="adj" fmla="val 19231"/>
            </a:avLst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892040" y="2880360"/>
            <a:ext cx="54864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352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5486400" y="2880360"/>
            <a:ext cx="54864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41%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365760" y="3611880"/>
            <a:ext cx="146304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Hotels</a:t>
            </a:r>
            <a:endParaRPr lang="en-US" sz="1200" dirty="0"/>
          </a:p>
        </p:txBody>
      </p:sp>
      <p:sp>
        <p:nvSpPr>
          <p:cNvPr id="24" name="Shape 22"/>
          <p:cNvSpPr/>
          <p:nvPr/>
        </p:nvSpPr>
        <p:spPr>
          <a:xfrm>
            <a:off x="1874520" y="3657600"/>
            <a:ext cx="2926080" cy="237744"/>
          </a:xfrm>
          <a:prstGeom prst="roundRect">
            <a:avLst>
              <a:gd name="adj" fmla="val 19231"/>
            </a:avLst>
          </a:prstGeom>
          <a:solidFill>
            <a:srgbClr val="F3F4F6"/>
          </a:solidFill>
          <a:ln w="12700">
            <a:solidFill>
              <a:srgbClr val="F3F4F6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1874520" y="3657600"/>
            <a:ext cx="406305" cy="237744"/>
          </a:xfrm>
          <a:prstGeom prst="roundRect">
            <a:avLst>
              <a:gd name="adj" fmla="val 19231"/>
            </a:avLst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4892040" y="3611880"/>
            <a:ext cx="54864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119</a:t>
            </a:r>
            <a:endParaRPr lang="en-US" sz="1200" dirty="0"/>
          </a:p>
        </p:txBody>
      </p:sp>
      <p:sp>
        <p:nvSpPr>
          <p:cNvPr id="27" name="Text 25"/>
          <p:cNvSpPr/>
          <p:nvPr/>
        </p:nvSpPr>
        <p:spPr>
          <a:xfrm>
            <a:off x="5486400" y="3611880"/>
            <a:ext cx="54864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14%</a:t>
            </a:r>
            <a:endParaRPr lang="en-US" sz="900" dirty="0"/>
          </a:p>
        </p:txBody>
      </p:sp>
      <p:sp>
        <p:nvSpPr>
          <p:cNvPr id="28" name="Text 26"/>
          <p:cNvSpPr/>
          <p:nvPr/>
        </p:nvSpPr>
        <p:spPr>
          <a:xfrm>
            <a:off x="365760" y="4343400"/>
            <a:ext cx="146304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Shell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1874520" y="4389120"/>
            <a:ext cx="2926080" cy="237744"/>
          </a:xfrm>
          <a:prstGeom prst="roundRect">
            <a:avLst>
              <a:gd name="adj" fmla="val 19231"/>
            </a:avLst>
          </a:prstGeom>
          <a:solidFill>
            <a:srgbClr val="F3F4F6"/>
          </a:solidFill>
          <a:ln w="12700">
            <a:solidFill>
              <a:srgbClr val="F3F4F6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1874520" y="4389120"/>
            <a:ext cx="751152" cy="237744"/>
          </a:xfrm>
          <a:prstGeom prst="roundRect">
            <a:avLst>
              <a:gd name="adj" fmla="val 19231"/>
            </a:avLst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4892040" y="4343400"/>
            <a:ext cx="54864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220</a:t>
            </a:r>
            <a:endParaRPr lang="en-US" sz="1200" dirty="0"/>
          </a:p>
        </p:txBody>
      </p:sp>
      <p:sp>
        <p:nvSpPr>
          <p:cNvPr id="32" name="Text 30"/>
          <p:cNvSpPr/>
          <p:nvPr/>
        </p:nvSpPr>
        <p:spPr>
          <a:xfrm>
            <a:off x="5486400" y="4343400"/>
            <a:ext cx="54864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26%</a:t>
            </a:r>
            <a:endParaRPr lang="en-US" sz="900" dirty="0"/>
          </a:p>
        </p:txBody>
      </p:sp>
      <p:sp>
        <p:nvSpPr>
          <p:cNvPr id="33" name="Text 31"/>
          <p:cNvSpPr/>
          <p:nvPr/>
        </p:nvSpPr>
        <p:spPr>
          <a:xfrm>
            <a:off x="365760" y="5074920"/>
            <a:ext cx="146304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Transportation</a:t>
            </a:r>
            <a:endParaRPr lang="en-US" sz="1200" dirty="0"/>
          </a:p>
        </p:txBody>
      </p:sp>
      <p:sp>
        <p:nvSpPr>
          <p:cNvPr id="34" name="Shape 32"/>
          <p:cNvSpPr/>
          <p:nvPr/>
        </p:nvSpPr>
        <p:spPr>
          <a:xfrm>
            <a:off x="1874520" y="5120640"/>
            <a:ext cx="2926080" cy="237744"/>
          </a:xfrm>
          <a:prstGeom prst="roundRect">
            <a:avLst>
              <a:gd name="adj" fmla="val 19231"/>
            </a:avLst>
          </a:prstGeom>
          <a:solidFill>
            <a:srgbClr val="F3F4F6"/>
          </a:solidFill>
          <a:ln w="12700">
            <a:solidFill>
              <a:srgbClr val="F3F4F6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1874520" y="5120640"/>
            <a:ext cx="566779" cy="237744"/>
          </a:xfrm>
          <a:prstGeom prst="roundRect">
            <a:avLst>
              <a:gd name="adj" fmla="val 19231"/>
            </a:avLst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4892040" y="5074920"/>
            <a:ext cx="54864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166</a:t>
            </a:r>
            <a:endParaRPr lang="en-US" sz="1200" dirty="0"/>
          </a:p>
        </p:txBody>
      </p:sp>
      <p:sp>
        <p:nvSpPr>
          <p:cNvPr id="37" name="Text 35"/>
          <p:cNvSpPr/>
          <p:nvPr/>
        </p:nvSpPr>
        <p:spPr>
          <a:xfrm>
            <a:off x="5486400" y="5074920"/>
            <a:ext cx="54864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19%</a:t>
            </a:r>
            <a:endParaRPr lang="en-US" sz="900" dirty="0"/>
          </a:p>
        </p:txBody>
      </p:sp>
      <p:sp>
        <p:nvSpPr>
          <p:cNvPr id="38" name="Shape 36"/>
          <p:cNvSpPr/>
          <p:nvPr/>
        </p:nvSpPr>
        <p:spPr>
          <a:xfrm>
            <a:off x="365760" y="5861304"/>
            <a:ext cx="5760720" cy="0"/>
          </a:xfrm>
          <a:prstGeom prst="line">
            <a:avLst/>
          </a:prstGeom>
          <a:noFill/>
          <a:ln w="12700">
            <a:solidFill>
              <a:srgbClr val="E5E7EB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365760" y="5934456"/>
            <a:ext cx="14630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</a:t>
            </a:r>
            <a:endParaRPr lang="en-US" sz="1300" dirty="0"/>
          </a:p>
        </p:txBody>
      </p:sp>
      <p:sp>
        <p:nvSpPr>
          <p:cNvPr id="40" name="Text 38"/>
          <p:cNvSpPr/>
          <p:nvPr/>
        </p:nvSpPr>
        <p:spPr>
          <a:xfrm>
            <a:off x="1874520" y="5934456"/>
            <a:ext cx="35661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2563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857 tests</a:t>
            </a:r>
            <a:endParaRPr lang="en-US" sz="1300" dirty="0"/>
          </a:p>
        </p:txBody>
      </p:sp>
      <p:sp>
        <p:nvSpPr>
          <p:cNvPr id="41" name="Shape 39"/>
          <p:cNvSpPr/>
          <p:nvPr/>
        </p:nvSpPr>
        <p:spPr>
          <a:xfrm>
            <a:off x="6355080" y="2514600"/>
            <a:ext cx="0" cy="3703320"/>
          </a:xfrm>
          <a:prstGeom prst="line">
            <a:avLst/>
          </a:prstGeom>
          <a:noFill/>
          <a:ln w="12700">
            <a:solidFill>
              <a:srgbClr val="E5E7EB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6675120" y="2487168"/>
            <a:ext cx="5120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563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 outcome</a:t>
            </a:r>
            <a:endParaRPr lang="en-US" sz="1400" dirty="0"/>
          </a:p>
        </p:txBody>
      </p:sp>
      <p:graphicFrame>
        <p:nvGraphicFramePr>
          <p:cNvPr id="43" name="Chart 0" descr=""/>
          <p:cNvGraphicFramePr/>
          <p:nvPr/>
        </p:nvGraphicFramePr>
        <p:xfrm>
          <a:off x="6537960" y="2743200"/>
          <a:ext cx="2286000" cy="18288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44" name="Text 41"/>
          <p:cNvSpPr/>
          <p:nvPr/>
        </p:nvSpPr>
        <p:spPr>
          <a:xfrm>
            <a:off x="7155180" y="3429000"/>
            <a:ext cx="10515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75%</a:t>
            </a:r>
            <a:endParaRPr lang="en-US" sz="2000" dirty="0"/>
          </a:p>
        </p:txBody>
      </p:sp>
      <p:sp>
        <p:nvSpPr>
          <p:cNvPr id="45" name="Shape 42"/>
          <p:cNvSpPr/>
          <p:nvPr/>
        </p:nvSpPr>
        <p:spPr>
          <a:xfrm>
            <a:off x="8961120" y="3300984"/>
            <a:ext cx="164592" cy="164592"/>
          </a:xfrm>
          <a:prstGeom prst="rect">
            <a:avLst/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</p:spPr>
      </p:sp>
      <p:sp>
        <p:nvSpPr>
          <p:cNvPr id="46" name="Text 43"/>
          <p:cNvSpPr/>
          <p:nvPr/>
        </p:nvSpPr>
        <p:spPr>
          <a:xfrm>
            <a:off x="9189720" y="3246120"/>
            <a:ext cx="2606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Passed  —  643 tests</a:t>
            </a:r>
            <a:endParaRPr lang="en-US" sz="1100" dirty="0"/>
          </a:p>
        </p:txBody>
      </p:sp>
      <p:sp>
        <p:nvSpPr>
          <p:cNvPr id="47" name="Shape 44"/>
          <p:cNvSpPr/>
          <p:nvPr/>
        </p:nvSpPr>
        <p:spPr>
          <a:xfrm>
            <a:off x="8961120" y="3685032"/>
            <a:ext cx="164592" cy="164592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48" name="Text 45"/>
          <p:cNvSpPr/>
          <p:nvPr/>
        </p:nvSpPr>
        <p:spPr>
          <a:xfrm>
            <a:off x="9189720" y="3630168"/>
            <a:ext cx="2606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Failed  —  214 tests</a:t>
            </a:r>
            <a:endParaRPr lang="en-US" sz="1100" dirty="0"/>
          </a:p>
        </p:txBody>
      </p:sp>
      <p:sp>
        <p:nvSpPr>
          <p:cNvPr id="49" name="Text 46"/>
          <p:cNvSpPr/>
          <p:nvPr/>
        </p:nvSpPr>
        <p:spPr>
          <a:xfrm>
            <a:off x="8961120" y="4041648"/>
            <a:ext cx="28346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Passing rate depends on supplier availability, environment speed and administration.</a:t>
            </a:r>
            <a:endParaRPr lang="en-US" sz="900" dirty="0"/>
          </a:p>
        </p:txBody>
      </p:sp>
      <p:sp>
        <p:nvSpPr>
          <p:cNvPr id="50" name="Shape 47"/>
          <p:cNvSpPr/>
          <p:nvPr/>
        </p:nvSpPr>
        <p:spPr>
          <a:xfrm>
            <a:off x="6675120" y="4892040"/>
            <a:ext cx="5120640" cy="1325880"/>
          </a:xfrm>
          <a:prstGeom prst="roundRect">
            <a:avLst>
              <a:gd name="adj" fmla="val 6897"/>
            </a:avLst>
          </a:prstGeom>
          <a:solidFill>
            <a:srgbClr val="F3F4F6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51" name="Text 48"/>
          <p:cNvSpPr/>
          <p:nvPr/>
        </p:nvSpPr>
        <p:spPr>
          <a:xfrm>
            <a:off x="6858000" y="4965192"/>
            <a:ext cx="475488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563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Coverage added in Sprint 19</a:t>
            </a:r>
            <a:endParaRPr lang="en-US" sz="1400" dirty="0"/>
          </a:p>
        </p:txBody>
      </p:sp>
      <p:sp>
        <p:nvSpPr>
          <p:cNvPr id="52" name="Text 49"/>
          <p:cNvSpPr/>
          <p:nvPr/>
        </p:nvSpPr>
        <p:spPr>
          <a:xfrm>
            <a:off x="6858000" y="5312664"/>
            <a:ext cx="4572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2000" b="1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32</a:t>
            </a:r>
            <a:endParaRPr lang="en-US" sz="2000" dirty="0"/>
          </a:p>
        </p:txBody>
      </p:sp>
      <p:sp>
        <p:nvSpPr>
          <p:cNvPr id="53" name="Text 50"/>
          <p:cNvSpPr/>
          <p:nvPr/>
        </p:nvSpPr>
        <p:spPr>
          <a:xfrm>
            <a:off x="7452360" y="5312664"/>
            <a:ext cx="42062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New tests</a:t>
            </a:r>
            <a:endParaRPr lang="en-US" sz="1150" dirty="0"/>
          </a:p>
        </p:txBody>
      </p:sp>
      <p:sp>
        <p:nvSpPr>
          <p:cNvPr id="54" name="Text 51"/>
          <p:cNvSpPr/>
          <p:nvPr/>
        </p:nvSpPr>
        <p:spPr>
          <a:xfrm>
            <a:off x="7452360" y="5733288"/>
            <a:ext cx="42062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24 </a:t>
            </a:r>
            <a:pPr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Flights</a:t>
            </a:r>
            <a:pPr indent="0" marL="0">
              <a:buNone/>
            </a:pPr>
            <a:r>
              <a:rPr lang="en-US" sz="1100" dirty="0">
                <a:solidFill>
                  <a:srgbClr val="E5E7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</a:t>
            </a:r>
            <a:pPr indent="0" marL="0">
              <a:buNone/>
            </a:pPr>
            <a:r>
              <a:rPr lang="en-US" sz="1100" b="1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</a:t>
            </a:r>
            <a:pPr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Hotels</a:t>
            </a:r>
            <a:pPr indent="0" marL="0">
              <a:buNone/>
            </a:pPr>
            <a:r>
              <a:rPr lang="en-US" sz="1100" dirty="0">
                <a:solidFill>
                  <a:srgbClr val="E5E7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</a:t>
            </a:r>
            <a:pPr indent="0" marL="0">
              <a:buNone/>
            </a:pPr>
            <a:r>
              <a:rPr lang="en-US" sz="1100" b="1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</a:t>
            </a:r>
            <a:pPr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Transportation</a:t>
            </a:r>
            <a:pPr indent="0" marL="0">
              <a:buNone/>
            </a:pPr>
            <a:r>
              <a:rPr lang="en-US" sz="1100" dirty="0">
                <a:solidFill>
                  <a:srgbClr val="E5E7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</a:t>
            </a:r>
            <a:pPr indent="0" marL="0">
              <a:buNone/>
            </a:pPr>
            <a:r>
              <a:rPr lang="en-US" sz="1100" b="1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</a:t>
            </a:r>
            <a:pPr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Shell</a:t>
            </a:r>
            <a:endParaRPr lang="en-US" sz="1100" dirty="0"/>
          </a:p>
        </p:txBody>
      </p:sp>
      <p:sp>
        <p:nvSpPr>
          <p:cNvPr id="55" name="Text 52"/>
          <p:cNvSpPr/>
          <p:nvPr/>
        </p:nvSpPr>
        <p:spPr>
          <a:xfrm>
            <a:off x="365760" y="6355080"/>
            <a:ext cx="11430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Goal: build confidence — validate stability, analyse results, expand coverage.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Test Automation Update</dc:title>
  <dc:subject>PptxGenJS Presentation</dc:subject>
  <dc:creator>PptxGenJS</dc:creator>
  <cp:lastModifiedBy>PptxGenJS</cp:lastModifiedBy>
  <cp:revision>1</cp:revision>
  <dcterms:created xsi:type="dcterms:W3CDTF">2026-09-22T10:51:44Z</dcterms:created>
  <dcterms:modified xsi:type="dcterms:W3CDTF">2026-09-22T10:51:44Z</dcterms:modified>
</cp:coreProperties>
</file>