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Migration %</c:v>
                </c:pt>
              </c:strCache>
            </c:strRef>
          </c:tx>
          <c:spPr>
            <a:solidFill>
              <a:srgbClr val="10B981"/>
            </a:solidFill>
            <a:ln w="25400" cap="flat">
              <a:solidFill>
                <a:srgbClr val="10B981"/>
              </a:solidFill>
              <a:prstDash val="solid"/>
              <a:round/>
            </a:ln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F2937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8"/>
            <c:spPr>
              <a:solidFill>
                <a:srgbClr val="10B981"/>
              </a:solidFill>
              <a:ln w="9525" cap="flat">
                <a:solidFill>
                  <a:srgbClr val="10B981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Sheet1!$A$2:$A$9</c:f>
              <c:multiLvlStrCache>
                <c:ptCount val="8"/>
                <c:lvl>
                  <c:pt idx="0">
                    <c:v>9</c:v>
                  </c:pt>
                  <c:pt idx="1">
                    <c:v>10</c:v>
                  </c:pt>
                  <c:pt idx="2">
                    <c:v>11</c:v>
                  </c:pt>
                  <c:pt idx="3">
                    <c:v>12</c:v>
                  </c:pt>
                  <c:pt idx="4">
                    <c:v>13</c:v>
                  </c:pt>
                  <c:pt idx="5">
                    <c:v>14</c:v>
                  </c:pt>
                  <c:pt idx="6">
                    <c:v>15</c:v>
                  </c:pt>
                  <c:pt idx="7">
                    <c:v>16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45</c:v>
                </c:pt>
                <c:pt idx="1">
                  <c:v>53</c:v>
                </c:pt>
                <c:pt idx="2">
                  <c:v>63</c:v>
                </c:pt>
                <c:pt idx="3">
                  <c:v>63</c:v>
                </c:pt>
                <c:pt idx="4">
                  <c:v>68</c:v>
                </c:pt>
                <c:pt idx="5">
                  <c:v>74</c:v>
                </c:pt>
                <c:pt idx="6">
                  <c:v>86</c:v>
                </c:pt>
                <c:pt idx="7">
                  <c:v>94</c:v>
                </c:pt>
              </c:numCache>
            </c:numRef>
          </c:val>
          <c:smooth val="0"/>
        </c:ser>
        <c:dLbls>
          <c:numFmt formatCode="0&quot;%&quot;" sourceLinked="0"/>
          <c:txPr>
            <a:bodyPr/>
            <a:lstStyle/>
            <a:p>
              <a:pPr>
                <a:defRPr b="0" i="0" strike="noStrike" sz="1000" u="none">
                  <a:solidFill>
                    <a:srgbClr val="1F2937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1F2937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  <c:min val="0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B728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 w="12700" cap="flat">
          <a:solidFill>
            <a:srgbClr val="E5E7EB"/>
          </a:solidFill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28600"/>
            <a:ext cx="11430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Migration Progress: Testim.io → Playwright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365760" y="713232"/>
            <a:ext cx="11430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Scope: OBT tests only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365760" y="1051560"/>
            <a:ext cx="11430000" cy="0"/>
          </a:xfrm>
          <a:prstGeom prst="line">
            <a:avLst/>
          </a:prstGeom>
          <a:noFill/>
          <a:ln w="12700">
            <a:solidFill>
              <a:srgbClr val="E5E7E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65760" y="1234440"/>
            <a:ext cx="3840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Agents accelerating migration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365760" y="1581912"/>
            <a:ext cx="384048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300"/>
              </a:spcAft>
              <a:buNone/>
            </a:pPr>
            <a:r>
              <a:rPr lang="en-US" sz="11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Foundation: </a:t>
            </a:r>
            <a:pPr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mapped all OBT pages &amp; main UI elements.
</a:t>
            </a:r>
            <a:pPr indent="0" marL="0">
              <a:spcAft>
                <a:spcPts val="300"/>
              </a:spcAft>
              <a:buNone/>
            </a:pPr>
            <a:r>
              <a:rPr lang="en-US" sz="11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1: </a:t>
            </a:r>
            <a:pPr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converts Testim → Playwright.
</a:t>
            </a:r>
            <a:pPr indent="0" marL="0">
              <a:spcAft>
                <a:spcPts val="300"/>
              </a:spcAft>
              <a:buNone/>
            </a:pPr>
            <a:r>
              <a:rPr lang="en-US" sz="11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2: </a:t>
            </a:r>
            <a:pPr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adapts output to our project format.
</a:t>
            </a:r>
            <a:pPr indent="0" marL="0">
              <a:spcAft>
                <a:spcPts val="300"/>
              </a:spcAft>
              <a:buNone/>
            </a:pPr>
            <a:r>
              <a:rPr lang="en-US" sz="11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3: </a:t>
            </a:r>
            <a:pPr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implements steps.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365760" y="2953512"/>
            <a:ext cx="3840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Migration Progress per Sprint</a:t>
            </a:r>
            <a:endParaRPr lang="en-US" sz="12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365760" y="3227832"/>
          <a:ext cx="3840480" cy="20116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Shape 6"/>
          <p:cNvSpPr/>
          <p:nvPr/>
        </p:nvSpPr>
        <p:spPr>
          <a:xfrm>
            <a:off x="4434840" y="1234440"/>
            <a:ext cx="3383280" cy="1554480"/>
          </a:xfrm>
          <a:prstGeom prst="roundRect">
            <a:avLst>
              <a:gd name="adj" fmla="val 5882"/>
            </a:avLst>
          </a:prstGeom>
          <a:solidFill>
            <a:srgbClr val="D1FAE5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4434840" y="1298448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Overall Migration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4434840" y="1554480"/>
            <a:ext cx="33832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4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94%</a:t>
            </a:r>
            <a:endParaRPr lang="en-US" sz="6400" dirty="0"/>
          </a:p>
        </p:txBody>
      </p:sp>
      <p:sp>
        <p:nvSpPr>
          <p:cNvPr id="12" name="Text 9"/>
          <p:cNvSpPr/>
          <p:nvPr/>
        </p:nvSpPr>
        <p:spPr>
          <a:xfrm>
            <a:off x="4434840" y="2423160"/>
            <a:ext cx="3383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672 / 712 tests migrated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4434840" y="2834640"/>
            <a:ext cx="3383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Domain Breakdown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4434840" y="3200400"/>
            <a:ext cx="1280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Hotels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5669280" y="3200400"/>
            <a:ext cx="1600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121</a:t>
            </a:r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</a:t>
            </a:r>
            <a:pPr indent="0" marL="0">
              <a:buNone/>
            </a:pPr>
            <a:r>
              <a:rPr lang="en-US" sz="10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117</a:t>
            </a:r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</a:t>
            </a:r>
            <a:pPr indent="0" marL="0">
              <a:buNone/>
            </a:pPr>
            <a:r>
              <a:rPr lang="en-US" sz="10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  <p:sp>
        <p:nvSpPr>
          <p:cNvPr id="16" name="Text 13"/>
          <p:cNvSpPr/>
          <p:nvPr/>
        </p:nvSpPr>
        <p:spPr>
          <a:xfrm>
            <a:off x="7269480" y="3200400"/>
            <a:ext cx="548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4434840" y="3447288"/>
            <a:ext cx="3271436" cy="182880"/>
          </a:xfrm>
          <a:prstGeom prst="roundRect">
            <a:avLst>
              <a:gd name="adj" fmla="val 25000"/>
            </a:avLst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7706276" y="3447288"/>
            <a:ext cx="111844" cy="182880"/>
          </a:xfrm>
          <a:prstGeom prst="roundRect">
            <a:avLst>
              <a:gd name="adj" fmla="val 40878"/>
            </a:avLst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4434840" y="3675888"/>
            <a:ext cx="1280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Flights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5669280" y="3675888"/>
            <a:ext cx="1600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254</a:t>
            </a:r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</a:t>
            </a:r>
            <a:pPr indent="0" marL="0">
              <a:buNone/>
            </a:pPr>
            <a:r>
              <a:rPr lang="en-US" sz="10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229</a:t>
            </a:r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</a:t>
            </a:r>
            <a:pPr indent="0" marL="0">
              <a:buNone/>
            </a:pPr>
            <a:r>
              <a:rPr lang="en-US" sz="10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</a:t>
            </a:r>
            <a:endParaRPr lang="en-US" sz="1000" dirty="0"/>
          </a:p>
        </p:txBody>
      </p:sp>
      <p:sp>
        <p:nvSpPr>
          <p:cNvPr id="21" name="Text 18"/>
          <p:cNvSpPr/>
          <p:nvPr/>
        </p:nvSpPr>
        <p:spPr>
          <a:xfrm>
            <a:off x="7269480" y="3675888"/>
            <a:ext cx="548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</a:t>
            </a:r>
            <a:endParaRPr lang="en-US" sz="1100" dirty="0"/>
          </a:p>
        </p:txBody>
      </p:sp>
      <p:sp>
        <p:nvSpPr>
          <p:cNvPr id="22" name="Shape 19"/>
          <p:cNvSpPr/>
          <p:nvPr/>
        </p:nvSpPr>
        <p:spPr>
          <a:xfrm>
            <a:off x="4434840" y="3922776"/>
            <a:ext cx="3050280" cy="182880"/>
          </a:xfrm>
          <a:prstGeom prst="roundRect">
            <a:avLst>
              <a:gd name="adj" fmla="val 25000"/>
            </a:avLst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7485120" y="3922776"/>
            <a:ext cx="333000" cy="182880"/>
          </a:xfrm>
          <a:prstGeom prst="roundRect">
            <a:avLst>
              <a:gd name="adj" fmla="val 25000"/>
            </a:avLst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4434840" y="4151376"/>
            <a:ext cx="1280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Transportation</a:t>
            </a:r>
            <a:endParaRPr lang="en-US" sz="1100" dirty="0"/>
          </a:p>
        </p:txBody>
      </p:sp>
      <p:sp>
        <p:nvSpPr>
          <p:cNvPr id="25" name="Text 22"/>
          <p:cNvSpPr/>
          <p:nvPr/>
        </p:nvSpPr>
        <p:spPr>
          <a:xfrm>
            <a:off x="5669280" y="4151376"/>
            <a:ext cx="1600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148</a:t>
            </a:r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</a:t>
            </a:r>
            <a:pPr indent="0" marL="0">
              <a:buNone/>
            </a:pPr>
            <a:r>
              <a:rPr lang="en-US" sz="10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106</a:t>
            </a:r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</a:t>
            </a:r>
            <a:pPr indent="0" marL="0">
              <a:buNone/>
            </a:pPr>
            <a:r>
              <a:rPr lang="en-US" sz="100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</a:t>
            </a:r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</a:t>
            </a:r>
            <a:pPr indent="0" marL="0">
              <a:buNone/>
            </a:pPr>
            <a:r>
              <a:rPr lang="en-US" sz="10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  <p:sp>
        <p:nvSpPr>
          <p:cNvPr id="26" name="Text 23"/>
          <p:cNvSpPr/>
          <p:nvPr/>
        </p:nvSpPr>
        <p:spPr>
          <a:xfrm>
            <a:off x="7269480" y="4151376"/>
            <a:ext cx="548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73%</a:t>
            </a:r>
            <a:endParaRPr lang="en-US" sz="1100" dirty="0"/>
          </a:p>
        </p:txBody>
      </p:sp>
      <p:sp>
        <p:nvSpPr>
          <p:cNvPr id="27" name="Shape 24"/>
          <p:cNvSpPr/>
          <p:nvPr/>
        </p:nvSpPr>
        <p:spPr>
          <a:xfrm>
            <a:off x="4434840" y="4398264"/>
            <a:ext cx="3383280" cy="182880"/>
          </a:xfrm>
          <a:prstGeom prst="roundRect">
            <a:avLst>
              <a:gd name="adj" fmla="val 25000"/>
            </a:avLst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4434840" y="4398264"/>
            <a:ext cx="2423160" cy="182880"/>
          </a:xfrm>
          <a:prstGeom prst="roundRect">
            <a:avLst>
              <a:gd name="adj" fmla="val 25000"/>
            </a:avLst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6858000" y="4398264"/>
            <a:ext cx="45720" cy="182880"/>
          </a:xfrm>
          <a:prstGeom prst="roundRect">
            <a:avLst>
              <a:gd name="adj" fmla="val 100000"/>
            </a:avLst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4434840" y="4626864"/>
            <a:ext cx="1280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Shell</a:t>
            </a:r>
            <a:endParaRPr lang="en-US" sz="1100" dirty="0"/>
          </a:p>
        </p:txBody>
      </p:sp>
      <p:sp>
        <p:nvSpPr>
          <p:cNvPr id="31" name="Text 28"/>
          <p:cNvSpPr/>
          <p:nvPr/>
        </p:nvSpPr>
        <p:spPr>
          <a:xfrm>
            <a:off x="5669280" y="4626864"/>
            <a:ext cx="1600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189</a:t>
            </a:r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</a:t>
            </a:r>
            <a:pPr indent="0" marL="0">
              <a:buNone/>
            </a:pPr>
            <a:r>
              <a:rPr lang="en-US" sz="10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164</a:t>
            </a:r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</a:t>
            </a:r>
            <a:pPr indent="0" marL="0">
              <a:buNone/>
            </a:pPr>
            <a:r>
              <a:rPr lang="en-US" sz="10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</a:t>
            </a:r>
            <a:endParaRPr lang="en-US" sz="1000" dirty="0"/>
          </a:p>
        </p:txBody>
      </p:sp>
      <p:sp>
        <p:nvSpPr>
          <p:cNvPr id="32" name="Text 29"/>
          <p:cNvSpPr/>
          <p:nvPr/>
        </p:nvSpPr>
        <p:spPr>
          <a:xfrm>
            <a:off x="7269480" y="4626864"/>
            <a:ext cx="548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</a:t>
            </a:r>
            <a:endParaRPr lang="en-US" sz="1100" dirty="0"/>
          </a:p>
        </p:txBody>
      </p:sp>
      <p:sp>
        <p:nvSpPr>
          <p:cNvPr id="33" name="Shape 30"/>
          <p:cNvSpPr/>
          <p:nvPr/>
        </p:nvSpPr>
        <p:spPr>
          <a:xfrm>
            <a:off x="4434840" y="4873752"/>
            <a:ext cx="2935756" cy="182880"/>
          </a:xfrm>
          <a:prstGeom prst="roundRect">
            <a:avLst>
              <a:gd name="adj" fmla="val 25000"/>
            </a:avLst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7370596" y="4873752"/>
            <a:ext cx="447524" cy="182880"/>
          </a:xfrm>
          <a:prstGeom prst="roundRect">
            <a:avLst>
              <a:gd name="adj" fmla="val 25000"/>
            </a:avLst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35" name="Text 32"/>
          <p:cNvSpPr/>
          <p:nvPr/>
        </p:nvSpPr>
        <p:spPr>
          <a:xfrm>
            <a:off x="4434840" y="5193792"/>
            <a:ext cx="3383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🚧 56 tests blocked (supplier errors / known bugs / require review) — converted, but cannot run yet; shown in orange above</a:t>
            </a:r>
            <a:endParaRPr lang="en-US" sz="900" dirty="0"/>
          </a:p>
        </p:txBody>
      </p:sp>
      <p:sp>
        <p:nvSpPr>
          <p:cNvPr id="36" name="Shape 33"/>
          <p:cNvSpPr/>
          <p:nvPr/>
        </p:nvSpPr>
        <p:spPr>
          <a:xfrm>
            <a:off x="4434840" y="5742432"/>
            <a:ext cx="164592" cy="164592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37" name="Text 34"/>
          <p:cNvSpPr/>
          <p:nvPr/>
        </p:nvSpPr>
        <p:spPr>
          <a:xfrm>
            <a:off x="4636008" y="5696712"/>
            <a:ext cx="111556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Done &amp; running</a:t>
            </a:r>
            <a:endParaRPr lang="en-US" sz="1000" dirty="0"/>
          </a:p>
        </p:txBody>
      </p:sp>
      <p:sp>
        <p:nvSpPr>
          <p:cNvPr id="38" name="Shape 35"/>
          <p:cNvSpPr/>
          <p:nvPr/>
        </p:nvSpPr>
        <p:spPr>
          <a:xfrm>
            <a:off x="5806440" y="5742432"/>
            <a:ext cx="164592" cy="164592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39" name="Text 36"/>
          <p:cNvSpPr/>
          <p:nvPr/>
        </p:nvSpPr>
        <p:spPr>
          <a:xfrm>
            <a:off x="6007608" y="5696712"/>
            <a:ext cx="61264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Blocked</a:t>
            </a:r>
            <a:endParaRPr lang="en-US" sz="1000" dirty="0"/>
          </a:p>
        </p:txBody>
      </p:sp>
      <p:sp>
        <p:nvSpPr>
          <p:cNvPr id="40" name="Shape 37"/>
          <p:cNvSpPr/>
          <p:nvPr/>
        </p:nvSpPr>
        <p:spPr>
          <a:xfrm>
            <a:off x="6675120" y="5742432"/>
            <a:ext cx="164592" cy="164592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1" name="Text 38"/>
          <p:cNvSpPr/>
          <p:nvPr/>
        </p:nvSpPr>
        <p:spPr>
          <a:xfrm>
            <a:off x="6876288" y="5696712"/>
            <a:ext cx="84124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migrated</a:t>
            </a:r>
            <a:endParaRPr lang="en-US" sz="1000" dirty="0"/>
          </a:p>
        </p:txBody>
      </p:sp>
      <p:sp>
        <p:nvSpPr>
          <p:cNvPr id="42" name="Shape 39"/>
          <p:cNvSpPr/>
          <p:nvPr/>
        </p:nvSpPr>
        <p:spPr>
          <a:xfrm>
            <a:off x="8046720" y="1234440"/>
            <a:ext cx="3794760" cy="5212080"/>
          </a:xfrm>
          <a:prstGeom prst="roundRect">
            <a:avLst>
              <a:gd name="adj" fmla="val 2410"/>
            </a:avLst>
          </a:prstGeom>
          <a:solidFill>
            <a:srgbClr val="F3F4F6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3" name="Text 40"/>
          <p:cNvSpPr/>
          <p:nvPr/>
        </p:nvSpPr>
        <p:spPr>
          <a:xfrm>
            <a:off x="8229600" y="1325880"/>
            <a:ext cx="3474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Daily Stability Run</a:t>
            </a:r>
            <a:endParaRPr lang="en-US" sz="1400" dirty="0"/>
          </a:p>
        </p:txBody>
      </p:sp>
      <p:sp>
        <p:nvSpPr>
          <p:cNvPr id="44" name="Text 41"/>
          <p:cNvSpPr/>
          <p:nvPr/>
        </p:nvSpPr>
        <p:spPr>
          <a:xfrm>
            <a:off x="8229600" y="1691640"/>
            <a:ext cx="3474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Mostly migrated tests, with new tests continuously being added to grow coverage. Passing rate depends on supplier availability, environment speed, and administration — reviewed regularly to stay reliable.</a:t>
            </a:r>
            <a:endParaRPr lang="en-US" sz="900" dirty="0"/>
          </a:p>
        </p:txBody>
      </p:sp>
      <p:sp>
        <p:nvSpPr>
          <p:cNvPr id="45" name="Shape 42"/>
          <p:cNvSpPr/>
          <p:nvPr/>
        </p:nvSpPr>
        <p:spPr>
          <a:xfrm>
            <a:off x="8229600" y="2331720"/>
            <a:ext cx="3429000" cy="621792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6" name="Text 43"/>
          <p:cNvSpPr/>
          <p:nvPr/>
        </p:nvSpPr>
        <p:spPr>
          <a:xfrm>
            <a:off x="8321040" y="2377440"/>
            <a:ext cx="18288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693</a:t>
            </a:r>
            <a:endParaRPr lang="en-US" sz="2200" dirty="0"/>
          </a:p>
        </p:txBody>
      </p:sp>
      <p:sp>
        <p:nvSpPr>
          <p:cNvPr id="47" name="Text 44"/>
          <p:cNvSpPr/>
          <p:nvPr/>
        </p:nvSpPr>
        <p:spPr>
          <a:xfrm>
            <a:off x="9875520" y="2377440"/>
            <a:ext cx="169164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 running daily</a:t>
            </a:r>
            <a:endParaRPr lang="en-US" sz="1000" dirty="0"/>
          </a:p>
        </p:txBody>
      </p:sp>
      <p:sp>
        <p:nvSpPr>
          <p:cNvPr id="48" name="Shape 45"/>
          <p:cNvSpPr/>
          <p:nvPr/>
        </p:nvSpPr>
        <p:spPr>
          <a:xfrm>
            <a:off x="8229600" y="2990088"/>
            <a:ext cx="3429000" cy="621792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9" name="Text 46"/>
          <p:cNvSpPr/>
          <p:nvPr/>
        </p:nvSpPr>
        <p:spPr>
          <a:xfrm>
            <a:off x="8321040" y="3035808"/>
            <a:ext cx="18288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82%</a:t>
            </a:r>
            <a:endParaRPr lang="en-US" sz="2200" dirty="0"/>
          </a:p>
        </p:txBody>
      </p:sp>
      <p:sp>
        <p:nvSpPr>
          <p:cNvPr id="50" name="Text 47"/>
          <p:cNvSpPr/>
          <p:nvPr/>
        </p:nvSpPr>
        <p:spPr>
          <a:xfrm>
            <a:off x="9875520" y="3035808"/>
            <a:ext cx="169164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Avg passing rate</a:t>
            </a:r>
            <a:endParaRPr lang="en-US" sz="1000" dirty="0"/>
          </a:p>
        </p:txBody>
      </p:sp>
      <p:sp>
        <p:nvSpPr>
          <p:cNvPr id="51" name="Shape 48"/>
          <p:cNvSpPr/>
          <p:nvPr/>
        </p:nvSpPr>
        <p:spPr>
          <a:xfrm>
            <a:off x="8229600" y="3648456"/>
            <a:ext cx="3429000" cy="621792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52" name="Text 49"/>
          <p:cNvSpPr/>
          <p:nvPr/>
        </p:nvSpPr>
        <p:spPr>
          <a:xfrm>
            <a:off x="8321040" y="3694176"/>
            <a:ext cx="18288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4h</a:t>
            </a:r>
            <a:endParaRPr lang="en-US" sz="2200" dirty="0"/>
          </a:p>
        </p:txBody>
      </p:sp>
      <p:sp>
        <p:nvSpPr>
          <p:cNvPr id="53" name="Text 50"/>
          <p:cNvSpPr/>
          <p:nvPr/>
        </p:nvSpPr>
        <p:spPr>
          <a:xfrm>
            <a:off x="9875520" y="3694176"/>
            <a:ext cx="169164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Avg total duration</a:t>
            </a:r>
            <a:endParaRPr lang="en-US" sz="1000" dirty="0"/>
          </a:p>
        </p:txBody>
      </p:sp>
      <p:sp>
        <p:nvSpPr>
          <p:cNvPr id="54" name="Text 51"/>
          <p:cNvSpPr/>
          <p:nvPr/>
        </p:nvSpPr>
        <p:spPr>
          <a:xfrm>
            <a:off x="8229600" y="4315968"/>
            <a:ext cx="3429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i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⏱  Why the run is taking longer. </a:t>
            </a:r>
            <a:pPr indent="0" marL="0">
              <a:buNone/>
            </a:pPr>
            <a:r>
              <a:rPr lang="en-US" sz="8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now run 2 tests at a time instead of 4, so the full run needs more time to finish. Running more at once was making the tests unstable, so for now we prefer a slower run we can trust.</a:t>
            </a:r>
            <a:endParaRPr lang="en-US" sz="800" dirty="0"/>
          </a:p>
        </p:txBody>
      </p:sp>
      <p:sp>
        <p:nvSpPr>
          <p:cNvPr id="55" name="Text 52"/>
          <p:cNvSpPr/>
          <p:nvPr/>
        </p:nvSpPr>
        <p:spPr>
          <a:xfrm>
            <a:off x="8229600" y="4919472"/>
            <a:ext cx="3474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Composition</a:t>
            </a:r>
            <a:endParaRPr lang="en-US" sz="1200" dirty="0"/>
          </a:p>
        </p:txBody>
      </p:sp>
      <p:sp>
        <p:nvSpPr>
          <p:cNvPr id="56" name="Text 53"/>
          <p:cNvSpPr/>
          <p:nvPr/>
        </p:nvSpPr>
        <p:spPr>
          <a:xfrm>
            <a:off x="8229600" y="521208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Flights</a:t>
            </a:r>
            <a:endParaRPr lang="en-US" sz="1100" dirty="0"/>
          </a:p>
        </p:txBody>
      </p:sp>
      <p:sp>
        <p:nvSpPr>
          <p:cNvPr id="57" name="Shape 54"/>
          <p:cNvSpPr/>
          <p:nvPr/>
        </p:nvSpPr>
        <p:spPr>
          <a:xfrm>
            <a:off x="9098280" y="5257800"/>
            <a:ext cx="2011680" cy="164592"/>
          </a:xfrm>
          <a:prstGeom prst="roundRect">
            <a:avLst>
              <a:gd name="adj" fmla="val 22222"/>
            </a:avLst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58" name="Shape 55"/>
          <p:cNvSpPr/>
          <p:nvPr/>
        </p:nvSpPr>
        <p:spPr>
          <a:xfrm>
            <a:off x="9098280" y="5257800"/>
            <a:ext cx="824411" cy="164592"/>
          </a:xfrm>
          <a:prstGeom prst="roundRect">
            <a:avLst>
              <a:gd name="adj" fmla="val 22222"/>
            </a:avLst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59" name="Text 56"/>
          <p:cNvSpPr/>
          <p:nvPr/>
        </p:nvSpPr>
        <p:spPr>
          <a:xfrm>
            <a:off x="11155680" y="5212080"/>
            <a:ext cx="502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284</a:t>
            </a:r>
            <a:endParaRPr lang="en-US" sz="1100" dirty="0"/>
          </a:p>
        </p:txBody>
      </p:sp>
      <p:sp>
        <p:nvSpPr>
          <p:cNvPr id="60" name="Text 57"/>
          <p:cNvSpPr/>
          <p:nvPr/>
        </p:nvSpPr>
        <p:spPr>
          <a:xfrm>
            <a:off x="8229600" y="5513832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Hotels</a:t>
            </a:r>
            <a:endParaRPr lang="en-US" sz="1100" dirty="0"/>
          </a:p>
        </p:txBody>
      </p:sp>
      <p:sp>
        <p:nvSpPr>
          <p:cNvPr id="61" name="Shape 58"/>
          <p:cNvSpPr/>
          <p:nvPr/>
        </p:nvSpPr>
        <p:spPr>
          <a:xfrm>
            <a:off x="9098280" y="5559552"/>
            <a:ext cx="2011680" cy="164592"/>
          </a:xfrm>
          <a:prstGeom prst="roundRect">
            <a:avLst>
              <a:gd name="adj" fmla="val 22222"/>
            </a:avLst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62" name="Shape 59"/>
          <p:cNvSpPr/>
          <p:nvPr/>
        </p:nvSpPr>
        <p:spPr>
          <a:xfrm>
            <a:off x="9098280" y="5559552"/>
            <a:ext cx="333829" cy="164592"/>
          </a:xfrm>
          <a:prstGeom prst="roundRect">
            <a:avLst>
              <a:gd name="adj" fmla="val 22222"/>
            </a:avLst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63" name="Text 60"/>
          <p:cNvSpPr/>
          <p:nvPr/>
        </p:nvSpPr>
        <p:spPr>
          <a:xfrm>
            <a:off x="11155680" y="5513832"/>
            <a:ext cx="502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115</a:t>
            </a:r>
            <a:endParaRPr lang="en-US" sz="1100" dirty="0"/>
          </a:p>
        </p:txBody>
      </p:sp>
      <p:sp>
        <p:nvSpPr>
          <p:cNvPr id="64" name="Text 61"/>
          <p:cNvSpPr/>
          <p:nvPr/>
        </p:nvSpPr>
        <p:spPr>
          <a:xfrm>
            <a:off x="8229600" y="5815584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Transportation</a:t>
            </a:r>
            <a:endParaRPr lang="en-US" sz="1100" dirty="0"/>
          </a:p>
        </p:txBody>
      </p:sp>
      <p:sp>
        <p:nvSpPr>
          <p:cNvPr id="65" name="Shape 62"/>
          <p:cNvSpPr/>
          <p:nvPr/>
        </p:nvSpPr>
        <p:spPr>
          <a:xfrm>
            <a:off x="9098280" y="5861304"/>
            <a:ext cx="2011680" cy="164592"/>
          </a:xfrm>
          <a:prstGeom prst="roundRect">
            <a:avLst>
              <a:gd name="adj" fmla="val 22222"/>
            </a:avLst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66" name="Shape 63"/>
          <p:cNvSpPr/>
          <p:nvPr/>
        </p:nvSpPr>
        <p:spPr>
          <a:xfrm>
            <a:off x="9098280" y="5861304"/>
            <a:ext cx="298994" cy="164592"/>
          </a:xfrm>
          <a:prstGeom prst="roundRect">
            <a:avLst>
              <a:gd name="adj" fmla="val 22222"/>
            </a:avLst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67" name="Text 64"/>
          <p:cNvSpPr/>
          <p:nvPr/>
        </p:nvSpPr>
        <p:spPr>
          <a:xfrm>
            <a:off x="11155680" y="5815584"/>
            <a:ext cx="502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103</a:t>
            </a:r>
            <a:endParaRPr lang="en-US" sz="1100" dirty="0"/>
          </a:p>
        </p:txBody>
      </p:sp>
      <p:sp>
        <p:nvSpPr>
          <p:cNvPr id="68" name="Text 65"/>
          <p:cNvSpPr/>
          <p:nvPr/>
        </p:nvSpPr>
        <p:spPr>
          <a:xfrm>
            <a:off x="8229600" y="611733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Shell</a:t>
            </a:r>
            <a:endParaRPr lang="en-US" sz="1100" dirty="0"/>
          </a:p>
        </p:txBody>
      </p:sp>
      <p:sp>
        <p:nvSpPr>
          <p:cNvPr id="69" name="Shape 66"/>
          <p:cNvSpPr/>
          <p:nvPr/>
        </p:nvSpPr>
        <p:spPr>
          <a:xfrm>
            <a:off x="9098280" y="6163056"/>
            <a:ext cx="2011680" cy="164592"/>
          </a:xfrm>
          <a:prstGeom prst="roundRect">
            <a:avLst>
              <a:gd name="adj" fmla="val 22222"/>
            </a:avLst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70" name="Shape 67"/>
          <p:cNvSpPr/>
          <p:nvPr/>
        </p:nvSpPr>
        <p:spPr>
          <a:xfrm>
            <a:off x="9098280" y="6163056"/>
            <a:ext cx="554446" cy="164592"/>
          </a:xfrm>
          <a:prstGeom prst="roundRect">
            <a:avLst>
              <a:gd name="adj" fmla="val 22222"/>
            </a:avLst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71" name="Text 68"/>
          <p:cNvSpPr/>
          <p:nvPr/>
        </p:nvSpPr>
        <p:spPr>
          <a:xfrm>
            <a:off x="11155680" y="6117336"/>
            <a:ext cx="502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191</a:t>
            </a:r>
            <a:endParaRPr lang="en-US" sz="1100" dirty="0"/>
          </a:p>
        </p:txBody>
      </p:sp>
      <p:sp>
        <p:nvSpPr>
          <p:cNvPr id="72" name="Text 69"/>
          <p:cNvSpPr/>
          <p:nvPr/>
        </p:nvSpPr>
        <p:spPr>
          <a:xfrm>
            <a:off x="365760" y="6446520"/>
            <a:ext cx="11430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Goal: build confidence — validate stability, analyze results, expand coverage.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Test Migration Progress</dc:title>
  <dc:subject>PptxGenJS Presentation</dc:subject>
  <dc:creator>PptxGenJS</dc:creator>
  <cp:lastModifiedBy>PptxGenJS</cp:lastModifiedBy>
  <cp:revision>1</cp:revision>
  <dcterms:created xsi:type="dcterms:W3CDTF">2026-08-14T13:42:07Z</dcterms:created>
  <dcterms:modified xsi:type="dcterms:W3CDTF">2026-08-14T13:42:07Z</dcterms:modified>
</cp:coreProperties>
</file>